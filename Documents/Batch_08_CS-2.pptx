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72" r:id="rId2"/>
    <p:sldId id="279" r:id="rId3"/>
    <p:sldId id="267" r:id="rId4"/>
    <p:sldId id="280" r:id="rId5"/>
    <p:sldId id="281" r:id="rId6"/>
    <p:sldId id="282" r:id="rId7"/>
    <p:sldId id="283" r:id="rId8"/>
    <p:sldId id="27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bha challa" initials="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64" autoAdjust="0"/>
    <p:restoredTop sz="94343" autoAdjust="0"/>
  </p:normalViewPr>
  <p:slideViewPr>
    <p:cSldViewPr showGuides="1">
      <p:cViewPr varScale="1">
        <p:scale>
          <a:sx n="82" d="100"/>
          <a:sy n="82" d="100"/>
        </p:scale>
        <p:origin x="859"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A04797-B579-40AF-8F83-E4702A9ED9FF}"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2579126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A04797-B579-40AF-8F83-E4702A9ED9FF}"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43221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A04797-B579-40AF-8F83-E4702A9ED9FF}"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4183866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A04797-B579-40AF-8F83-E4702A9ED9FF}"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058865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A04797-B579-40AF-8F83-E4702A9ED9FF}" type="datetimeFigureOut">
              <a:rPr lang="en-US" smtClean="0"/>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2480108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A04797-B579-40AF-8F83-E4702A9ED9FF}" type="datetimeFigureOut">
              <a:rPr lang="en-US" smtClean="0"/>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102195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A04797-B579-40AF-8F83-E4702A9ED9FF}" type="datetimeFigureOut">
              <a:rPr lang="en-US" smtClean="0"/>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766014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A04797-B579-40AF-8F83-E4702A9ED9FF}"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126452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A04797-B579-40AF-8F83-E4702A9ED9FF}"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501139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A04797-B579-40AF-8F83-E4702A9ED9FF}"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870238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A04797-B579-40AF-8F83-E4702A9ED9FF}"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857628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A04797-B579-40AF-8F83-E4702A9ED9FF}" type="datetimeFigureOut">
              <a:rPr lang="en-US" smtClean="0"/>
              <a:t>9/9/2025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D9D178-02C0-4294-8602-787D7B816A54}" type="slidenum">
              <a:rPr lang="en-US" smtClean="0"/>
              <a:t>‹#›</a:t>
            </a:fld>
            <a:endParaRPr lang="en-US"/>
          </a:p>
        </p:txBody>
      </p:sp>
    </p:spTree>
    <p:extLst>
      <p:ext uri="{BB962C8B-B14F-4D97-AF65-F5344CB8AC3E}">
        <p14:creationId xmlns:p14="http://schemas.microsoft.com/office/powerpoint/2010/main" val="30321660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0"/>
            <a:ext cx="9753600" cy="1752600"/>
          </a:xfrm>
        </p:spPr>
        <p:txBody>
          <a:bodyPr>
            <a:normAutofit/>
          </a:bodyPr>
          <a:lstStyle/>
          <a:p>
            <a:pPr algn="ctr"/>
            <a:r>
              <a:rPr lang="en-IN" sz="2000" dirty="0">
                <a:latin typeface="Times New Roman" panose="02020603050405020304" pitchFamily="18" charset="0"/>
                <a:cs typeface="Times New Roman" panose="02020603050405020304" pitchFamily="18" charset="0"/>
              </a:rPr>
              <a:t>A Mini Project abstract presentation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on</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        </a:t>
            </a:r>
            <a:r>
              <a:rPr lang="en-IN" sz="3200" b="1" dirty="0">
                <a:latin typeface="Calibri" panose="020F0502020204030204" pitchFamily="34" charset="0"/>
                <a:ea typeface="Calibri" panose="020F0502020204030204" pitchFamily="34" charset="0"/>
                <a:cs typeface="Calibri" panose="020F0502020204030204" pitchFamily="34" charset="0"/>
              </a:rPr>
              <a:t>Timeless moments- </a:t>
            </a:r>
            <a:r>
              <a:rPr lang="en-IN" sz="1600" b="1" dirty="0">
                <a:latin typeface="STLiti" panose="02010800040101010101" pitchFamily="2" charset="-122"/>
                <a:ea typeface="STLiti" panose="02010800040101010101" pitchFamily="2" charset="-122"/>
                <a:cs typeface="Times New Roman" panose="02020603050405020304" pitchFamily="18" charset="0"/>
              </a:rPr>
              <a:t>where stories begin</a:t>
            </a:r>
            <a:endParaRPr lang="en-IN" sz="1600" dirty="0">
              <a:latin typeface="STLiti" panose="02010800040101010101" pitchFamily="2" charset="-122"/>
              <a:ea typeface="STLiti" panose="02010800040101010101" pitchFamily="2" charset="-122"/>
              <a:cs typeface="Ebrima" panose="02000000000000000000" pitchFamily="2" charset="0"/>
            </a:endParaRPr>
          </a:p>
        </p:txBody>
      </p:sp>
      <p:sp>
        <p:nvSpPr>
          <p:cNvPr id="3" name="Content Placeholder 2"/>
          <p:cNvSpPr>
            <a:spLocks noGrp="1"/>
          </p:cNvSpPr>
          <p:nvPr>
            <p:ph idx="1"/>
          </p:nvPr>
        </p:nvSpPr>
        <p:spPr>
          <a:xfrm>
            <a:off x="1066800" y="5029200"/>
            <a:ext cx="10210801" cy="1524000"/>
          </a:xfrm>
        </p:spPr>
        <p:txBody>
          <a:bodyPr>
            <a:normAutofit fontScale="25000" lnSpcReduction="20000"/>
          </a:bodyPr>
          <a:lstStyle/>
          <a:p>
            <a:pPr marL="0" indent="0" algn="ctr">
              <a:buNone/>
            </a:pPr>
            <a:endParaRPr lang="en-IN" sz="2000" b="1" dirty="0">
              <a:solidFill>
                <a:srgbClr val="0070C0"/>
              </a:solidFill>
              <a:latin typeface="Times New Roman" panose="02020603050405020304" pitchFamily="18" charset="0"/>
              <a:cs typeface="Times New Roman" panose="02020603050405020304" pitchFamily="18" charset="0"/>
            </a:endParaRPr>
          </a:p>
          <a:p>
            <a:pPr marL="0" indent="0" algn="ctr">
              <a:buNone/>
            </a:pPr>
            <a:r>
              <a:rPr lang="en-IN" sz="8000" b="1" dirty="0">
                <a:solidFill>
                  <a:srgbClr val="0070C0"/>
                </a:solidFill>
                <a:latin typeface="Times New Roman" panose="02020603050405020304" pitchFamily="18" charset="0"/>
                <a:cs typeface="Times New Roman" panose="02020603050405020304" pitchFamily="18" charset="0"/>
              </a:rPr>
              <a:t>Under the guidance of</a:t>
            </a:r>
            <a:endParaRPr lang="en-IN" sz="8000" b="1" dirty="0">
              <a:solidFill>
                <a:srgbClr val="C00000"/>
              </a:solidFill>
              <a:latin typeface="Times New Roman" panose="02020603050405020304" pitchFamily="18" charset="0"/>
              <a:cs typeface="Times New Roman" panose="02020603050405020304" pitchFamily="18" charset="0"/>
            </a:endParaRPr>
          </a:p>
          <a:p>
            <a:pPr marL="0" indent="0" algn="ctr">
              <a:buNone/>
            </a:pPr>
            <a:r>
              <a:rPr lang="en-IN" sz="8000" b="1" dirty="0">
                <a:solidFill>
                  <a:srgbClr val="C00000"/>
                </a:solidFill>
                <a:latin typeface="Times New Roman" panose="02020603050405020304" pitchFamily="18" charset="0"/>
                <a:cs typeface="Times New Roman" panose="02020603050405020304" pitchFamily="18" charset="0"/>
              </a:rPr>
              <a:t>Mr. P. Yogendra Prasad,</a:t>
            </a:r>
          </a:p>
          <a:p>
            <a:pPr marL="0" indent="0" algn="ctr">
              <a:buNone/>
            </a:pPr>
            <a:r>
              <a:rPr lang="en-IN" sz="8000" b="1" dirty="0">
                <a:solidFill>
                  <a:srgbClr val="C00000"/>
                </a:solidFill>
                <a:latin typeface="Times New Roman" panose="02020603050405020304" pitchFamily="18" charset="0"/>
                <a:cs typeface="Times New Roman" panose="02020603050405020304" pitchFamily="18" charset="0"/>
              </a:rPr>
              <a:t>Assistant Professor,</a:t>
            </a:r>
          </a:p>
          <a:p>
            <a:pPr marL="0" indent="0" algn="ctr">
              <a:buNone/>
            </a:pPr>
            <a:r>
              <a:rPr lang="en-IN" sz="8000" b="1" dirty="0">
                <a:solidFill>
                  <a:srgbClr val="C00000"/>
                </a:solidFill>
                <a:latin typeface="Times New Roman" panose="02020603050405020304" pitchFamily="18" charset="0"/>
                <a:cs typeface="Times New Roman" panose="02020603050405020304" pitchFamily="18" charset="0"/>
              </a:rPr>
              <a:t>Dept. of Data Science.</a:t>
            </a:r>
          </a:p>
        </p:txBody>
      </p:sp>
      <p:sp>
        <p:nvSpPr>
          <p:cNvPr id="5" name="TextBox 4"/>
          <p:cNvSpPr txBox="1"/>
          <p:nvPr/>
        </p:nvSpPr>
        <p:spPr>
          <a:xfrm>
            <a:off x="1295400" y="1555877"/>
            <a:ext cx="9601200" cy="1785104"/>
          </a:xfrm>
          <a:prstGeom prst="rect">
            <a:avLst/>
          </a:prstGeom>
          <a:noFill/>
        </p:spPr>
        <p:txBody>
          <a:bodyPr wrap="square" rtlCol="0">
            <a:spAutoFit/>
          </a:bodyPr>
          <a:lstStyle/>
          <a:p>
            <a:pPr algn="ctr"/>
            <a:r>
              <a:rPr lang="en-IN" sz="2000" b="1" dirty="0">
                <a:solidFill>
                  <a:srgbClr val="C00000"/>
                </a:solidFill>
                <a:latin typeface="Times New Roman" panose="02020603050405020304" pitchFamily="18" charset="0"/>
                <a:cs typeface="Times New Roman" panose="02020603050405020304" pitchFamily="18" charset="0"/>
              </a:rPr>
              <a:t>Presented by Batch CS 2-08</a:t>
            </a:r>
          </a:p>
          <a:p>
            <a:pPr algn="ctr"/>
            <a:endParaRPr lang="en-IN" sz="1000" b="1" dirty="0">
              <a:solidFill>
                <a:schemeClr val="tx2"/>
              </a:solidFill>
              <a:latin typeface="Times New Roman" panose="02020603050405020304" pitchFamily="18" charset="0"/>
              <a:cs typeface="Times New Roman" panose="02020603050405020304" pitchFamily="18" charset="0"/>
            </a:endParaRPr>
          </a:p>
          <a:p>
            <a:pPr algn="ctr"/>
            <a:r>
              <a:rPr lang="en-IN" sz="2000" b="1" dirty="0">
                <a:solidFill>
                  <a:srgbClr val="C00000"/>
                </a:solidFill>
                <a:latin typeface="Times New Roman" panose="02020603050405020304" pitchFamily="18" charset="0"/>
                <a:cs typeface="Times New Roman" panose="02020603050405020304" pitchFamily="18" charset="0"/>
              </a:rPr>
              <a:t>	    G . DIVYA YOSHITA	                       23102A020089	</a:t>
            </a:r>
          </a:p>
          <a:p>
            <a:pPr algn="ctr"/>
            <a:r>
              <a:rPr lang="en-IN" sz="2000" b="1" dirty="0">
                <a:solidFill>
                  <a:srgbClr val="C00000"/>
                </a:solidFill>
                <a:latin typeface="Times New Roman" panose="02020603050405020304" pitchFamily="18" charset="0"/>
                <a:cs typeface="Times New Roman" panose="02020603050405020304" pitchFamily="18" charset="0"/>
              </a:rPr>
              <a:t>         K . VENKAT YADHAV		              23102A020055</a:t>
            </a:r>
          </a:p>
          <a:p>
            <a:pPr algn="ctr"/>
            <a:r>
              <a:rPr lang="en-IN" sz="2000" b="1" dirty="0">
                <a:solidFill>
                  <a:srgbClr val="C00000"/>
                </a:solidFill>
                <a:latin typeface="Times New Roman" panose="02020603050405020304" pitchFamily="18" charset="0"/>
                <a:cs typeface="Times New Roman" panose="02020603050405020304" pitchFamily="18" charset="0"/>
              </a:rPr>
              <a:t>         G . VIVEK	 	                                    23102A020066</a:t>
            </a:r>
          </a:p>
          <a:p>
            <a:r>
              <a:rPr lang="en-US" sz="2000" b="1" dirty="0">
                <a:solidFill>
                  <a:srgbClr val="FF0000"/>
                </a:solidFill>
                <a:latin typeface="Times New Roman" panose="02020603050405020304" pitchFamily="18" charset="0"/>
                <a:cs typeface="Times New Roman" panose="02020603050405020304" pitchFamily="18" charset="0"/>
              </a:rPr>
              <a:t> </a:t>
            </a:r>
          </a:p>
        </p:txBody>
      </p:sp>
      <p:sp>
        <p:nvSpPr>
          <p:cNvPr id="12" name="Rectangle 11"/>
          <p:cNvSpPr/>
          <p:nvPr/>
        </p:nvSpPr>
        <p:spPr>
          <a:xfrm>
            <a:off x="3351068" y="4499860"/>
            <a:ext cx="5642264" cy="492443"/>
          </a:xfrm>
          <a:prstGeom prst="rect">
            <a:avLst/>
          </a:prstGeom>
        </p:spPr>
        <p:txBody>
          <a:bodyPr wrap="square">
            <a:spAutoFit/>
          </a:bodyPr>
          <a:lstStyle/>
          <a:p>
            <a:pPr algn="ctr"/>
            <a:r>
              <a:rPr lang="en-IN" sz="2600" b="1" dirty="0">
                <a:solidFill>
                  <a:srgbClr val="00B050"/>
                </a:solidFill>
                <a:latin typeface="Times New Roman" panose="02020603050405020304" pitchFamily="18" charset="0"/>
                <a:cs typeface="Times New Roman" panose="02020603050405020304" pitchFamily="18" charset="0"/>
              </a:rPr>
              <a:t>Cyber Security</a:t>
            </a:r>
          </a:p>
        </p:txBody>
      </p:sp>
      <p:pic>
        <p:nvPicPr>
          <p:cNvPr id="4" name="Picture 2" descr="Logo">
            <a:extLst>
              <a:ext uri="{FF2B5EF4-FFF2-40B4-BE49-F238E27FC236}">
                <a16:creationId xmlns:a16="http://schemas.microsoft.com/office/drawing/2014/main" id="{8A70B4E1-65CB-3AFB-860A-258888E1BC48}"/>
              </a:ext>
            </a:extLst>
          </p:cNvPr>
          <p:cNvPicPr>
            <a:picLocks noChangeAspect="1" noChangeArrowheads="1"/>
          </p:cNvPicPr>
          <p:nvPr/>
        </p:nvPicPr>
        <p:blipFill>
          <a:blip r:embed="rId2"/>
          <a:srcRect/>
          <a:stretch>
            <a:fillRect/>
          </a:stretch>
        </p:blipFill>
        <p:spPr bwMode="auto">
          <a:xfrm>
            <a:off x="5141116" y="3308476"/>
            <a:ext cx="2069847" cy="1034924"/>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2F7EA-6EFF-F8E6-7EF7-E0E0966D8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EFC29-63E7-74CA-B30C-4122773AF340}"/>
              </a:ext>
            </a:extLst>
          </p:cNvPr>
          <p:cNvSpPr>
            <a:spLocks noGrp="1"/>
          </p:cNvSpPr>
          <p:nvPr>
            <p:ph type="title"/>
          </p:nvPr>
        </p:nvSpPr>
        <p:spPr>
          <a:xfrm>
            <a:off x="457200" y="457200"/>
            <a:ext cx="10591800" cy="762000"/>
          </a:xfrm>
        </p:spPr>
        <p:txBody>
          <a:bodyPr>
            <a:normAutofit/>
          </a:bodyPr>
          <a:lstStyle/>
          <a:p>
            <a:pPr algn="ctr"/>
            <a:r>
              <a:rPr lang="en-IN" b="1" dirty="0">
                <a:solidFill>
                  <a:srgbClr val="FF0000"/>
                </a:solidFill>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AE509BE4-C237-C6F5-D361-1C4E38309BAE}"/>
              </a:ext>
            </a:extLst>
          </p:cNvPr>
          <p:cNvSpPr>
            <a:spLocks noGrp="1"/>
          </p:cNvSpPr>
          <p:nvPr>
            <p:ph idx="1"/>
          </p:nvPr>
        </p:nvSpPr>
        <p:spPr>
          <a:xfrm>
            <a:off x="990600" y="1600200"/>
            <a:ext cx="10668000" cy="4572000"/>
          </a:xfrm>
        </p:spPr>
        <p:txBody>
          <a:bodyPr>
            <a:noAutofit/>
          </a:bodyPr>
          <a:lstStyle/>
          <a:p>
            <a:pPr>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Abstract</a:t>
            </a:r>
            <a:endParaRPr lang="en-US" sz="22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Introduction</a:t>
            </a:r>
          </a:p>
          <a:p>
            <a:pPr>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Statement of the problem</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Objectives</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Motivation</a:t>
            </a:r>
          </a:p>
          <a:p>
            <a:pPr marL="0" indent="0">
              <a:lnSpc>
                <a:spcPct val="150000"/>
              </a:lnSpc>
              <a:buNone/>
            </a:pPr>
            <a:endParaRPr lang="en-US" sz="2400" dirty="0">
              <a:latin typeface="Times New Roman" panose="02020603050405020304" pitchFamily="18" charset="0"/>
              <a:cs typeface="Times New Roman" panose="02020603050405020304" pitchFamily="18" charset="0"/>
            </a:endParaRPr>
          </a:p>
          <a:p>
            <a:pPr>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792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18507"/>
            <a:ext cx="10591800" cy="762000"/>
          </a:xfrm>
        </p:spPr>
        <p:txBody>
          <a:bodyPr>
            <a:normAutofit/>
          </a:bodyPr>
          <a:lstStyle/>
          <a:p>
            <a:pPr algn="ctr"/>
            <a:r>
              <a:rPr lang="en-IN" b="1" dirty="0">
                <a:solidFill>
                  <a:srgbClr val="FF0000"/>
                </a:solidFill>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762000" y="1219200"/>
            <a:ext cx="10591800" cy="4648200"/>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 </a:t>
            </a:r>
          </a:p>
          <a:p>
            <a:pPr>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13229B6-11CC-3691-48C0-0A8442C0D2E0}"/>
              </a:ext>
            </a:extLst>
          </p:cNvPr>
          <p:cNvSpPr txBox="1"/>
          <p:nvPr/>
        </p:nvSpPr>
        <p:spPr>
          <a:xfrm>
            <a:off x="762000" y="1496586"/>
            <a:ext cx="10287000" cy="4093428"/>
          </a:xfrm>
          <a:prstGeom prst="rect">
            <a:avLst/>
          </a:prstGeom>
          <a:noFill/>
        </p:spPr>
        <p:txBody>
          <a:bodyPr wrap="square">
            <a:spAutoFit/>
          </a:bodyPr>
          <a:lstStyle/>
          <a:p>
            <a:pPr algn="just"/>
            <a:r>
              <a:rPr lang="en-US" sz="2600" dirty="0">
                <a:latin typeface="Ebrima" panose="02000000000000000000" pitchFamily="2" charset="0"/>
                <a:ea typeface="Ebrima" panose="02000000000000000000" pitchFamily="2" charset="0"/>
                <a:cs typeface="Ebrima" panose="02000000000000000000" pitchFamily="2" charset="0"/>
              </a:rPr>
              <a:t>The Timeless Moments is a web-based application designed to simplify event service booking. It allows customers to explore and book services like venue, decoration, catering, photography, and entertainment from a single platform. Each service has its own booking form with detailed information and pricing to help customers make informed choices. The system supports role-based login for Customers, Vendors, and Planners, providing appropriate access for each user type. A feedback system is included to let users review the services they use. Overall, it streamlines event planning, making the process faster, organized, and efficient.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48619-7EB5-F13C-4E4D-3293EBE10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5F948-E2C5-25EC-69BC-790A0330B4F4}"/>
              </a:ext>
            </a:extLst>
          </p:cNvPr>
          <p:cNvSpPr>
            <a:spLocks noGrp="1"/>
          </p:cNvSpPr>
          <p:nvPr>
            <p:ph type="title"/>
          </p:nvPr>
        </p:nvSpPr>
        <p:spPr>
          <a:xfrm>
            <a:off x="609600" y="609600"/>
            <a:ext cx="10591800" cy="762000"/>
          </a:xfrm>
        </p:spPr>
        <p:txBody>
          <a:bodyPr>
            <a:normAutofit/>
          </a:bodyPr>
          <a:lstStyle/>
          <a:p>
            <a:pPr algn="ctr"/>
            <a:r>
              <a:rPr lang="en-IN" b="1" dirty="0">
                <a:solidFill>
                  <a:srgbClr val="FF000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88941FCE-26FA-51C8-B73C-B97493B6A36F}"/>
              </a:ext>
            </a:extLst>
          </p:cNvPr>
          <p:cNvSpPr>
            <a:spLocks noGrp="1"/>
          </p:cNvSpPr>
          <p:nvPr>
            <p:ph idx="1"/>
          </p:nvPr>
        </p:nvSpPr>
        <p:spPr>
          <a:xfrm>
            <a:off x="609600" y="1289566"/>
            <a:ext cx="10591800" cy="4648200"/>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 </a:t>
            </a:r>
          </a:p>
          <a:p>
            <a:pPr>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0D6B862-4996-87F8-2D3C-452B25261EAE}"/>
              </a:ext>
            </a:extLst>
          </p:cNvPr>
          <p:cNvSpPr txBox="1"/>
          <p:nvPr/>
        </p:nvSpPr>
        <p:spPr>
          <a:xfrm>
            <a:off x="685800" y="1946523"/>
            <a:ext cx="10591800" cy="3539430"/>
          </a:xfrm>
          <a:prstGeom prst="rect">
            <a:avLst/>
          </a:prstGeom>
          <a:noFill/>
        </p:spPr>
        <p:txBody>
          <a:bodyPr wrap="square">
            <a:spAutoFit/>
          </a:bodyPr>
          <a:lstStyle/>
          <a:p>
            <a:pPr algn="just"/>
            <a:r>
              <a:rPr lang="en-US" sz="2400" dirty="0">
                <a:latin typeface="Ebrima" panose="02000000000000000000" pitchFamily="2" charset="0"/>
                <a:ea typeface="Ebrima" panose="02000000000000000000" pitchFamily="2" charset="0"/>
                <a:cs typeface="Ebrima" panose="02000000000000000000" pitchFamily="2" charset="0"/>
              </a:rPr>
              <a:t>Planning an event involves  multiple services, including venues, decorations, catering, photography, and entertainment. Generally , customers must contact each vendor individually, which can be time-consuming, confusing, and can lead to miscommunication. </a:t>
            </a:r>
          </a:p>
          <a:p>
            <a:pPr algn="just"/>
            <a:r>
              <a:rPr lang="en-US" sz="2400" dirty="0">
                <a:latin typeface="Ebrima" panose="02000000000000000000" pitchFamily="2" charset="0"/>
                <a:ea typeface="Ebrima" panose="02000000000000000000" pitchFamily="2" charset="0"/>
                <a:cs typeface="Ebrima" panose="02000000000000000000" pitchFamily="2" charset="0"/>
              </a:rPr>
              <a:t>                                        The </a:t>
            </a:r>
            <a:r>
              <a:rPr lang="en-IN" sz="2400" b="1" dirty="0">
                <a:latin typeface="Calibri" panose="020F0502020204030204" pitchFamily="34" charset="0"/>
                <a:ea typeface="Calibri" panose="020F0502020204030204" pitchFamily="34" charset="0"/>
                <a:cs typeface="Calibri" panose="020F0502020204030204" pitchFamily="34" charset="0"/>
              </a:rPr>
              <a:t>Timeless moments</a:t>
            </a:r>
            <a:r>
              <a:rPr lang="en-US" sz="2400" b="1" dirty="0">
                <a:latin typeface="Ebrima" panose="02000000000000000000" pitchFamily="2" charset="0"/>
                <a:ea typeface="Ebrima" panose="02000000000000000000" pitchFamily="2" charset="0"/>
                <a:cs typeface="Ebrima" panose="02000000000000000000" pitchFamily="2" charset="0"/>
              </a:rPr>
              <a:t> </a:t>
            </a:r>
            <a:r>
              <a:rPr lang="en-US" sz="2400" dirty="0">
                <a:latin typeface="Ebrima" panose="02000000000000000000" pitchFamily="2" charset="0"/>
                <a:ea typeface="Ebrima" panose="02000000000000000000" pitchFamily="2" charset="0"/>
                <a:cs typeface="Ebrima" panose="02000000000000000000" pitchFamily="2" charset="0"/>
              </a:rPr>
              <a:t>solves this problem by offering a unified platform where customers can access all event services, check prices, and book what they need easily. This solution benefits not only customers but also event planners and service vendors by simplifying coordination and improving efficiency.</a:t>
            </a:r>
            <a:endParaRPr lang="en-IN" sz="2400" dirty="0">
              <a:latin typeface="Ebrima" panose="02000000000000000000" pitchFamily="2" charset="0"/>
              <a:ea typeface="Ebrima" panose="02000000000000000000" pitchFamily="2" charset="0"/>
              <a:cs typeface="Ebrima" panose="02000000000000000000" pitchFamily="2" charset="0"/>
            </a:endParaRPr>
          </a:p>
        </p:txBody>
      </p:sp>
    </p:spTree>
    <p:extLst>
      <p:ext uri="{BB962C8B-B14F-4D97-AF65-F5344CB8AC3E}">
        <p14:creationId xmlns:p14="http://schemas.microsoft.com/office/powerpoint/2010/main" val="264029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11317-A5DE-EFE8-332A-997239C43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0CD10-BCA2-2B07-AEED-40F992255168}"/>
              </a:ext>
            </a:extLst>
          </p:cNvPr>
          <p:cNvSpPr>
            <a:spLocks noGrp="1"/>
          </p:cNvSpPr>
          <p:nvPr>
            <p:ph type="title"/>
          </p:nvPr>
        </p:nvSpPr>
        <p:spPr>
          <a:xfrm>
            <a:off x="685800" y="1066800"/>
            <a:ext cx="10591800" cy="762000"/>
          </a:xfrm>
        </p:spPr>
        <p:txBody>
          <a:bodyPr>
            <a:normAutofit/>
          </a:bodyPr>
          <a:lstStyle/>
          <a:p>
            <a:pPr algn="ctr"/>
            <a:r>
              <a:rPr lang="en-IN" b="1" dirty="0">
                <a:solidFill>
                  <a:srgbClr val="FF0000"/>
                </a:solidFill>
                <a:latin typeface="Times New Roman" panose="02020603050405020304" pitchFamily="18" charset="0"/>
                <a:cs typeface="Times New Roman" panose="02020603050405020304" pitchFamily="18" charset="0"/>
              </a:rPr>
              <a:t>Statement of the problem</a:t>
            </a:r>
          </a:p>
        </p:txBody>
      </p:sp>
      <p:sp>
        <p:nvSpPr>
          <p:cNvPr id="3" name="Content Placeholder 2">
            <a:extLst>
              <a:ext uri="{FF2B5EF4-FFF2-40B4-BE49-F238E27FC236}">
                <a16:creationId xmlns:a16="http://schemas.microsoft.com/office/drawing/2014/main" id="{4A182284-AD58-92D4-CDDF-66B09976D0F6}"/>
              </a:ext>
            </a:extLst>
          </p:cNvPr>
          <p:cNvSpPr>
            <a:spLocks noGrp="1"/>
          </p:cNvSpPr>
          <p:nvPr>
            <p:ph idx="1"/>
          </p:nvPr>
        </p:nvSpPr>
        <p:spPr>
          <a:xfrm>
            <a:off x="685800" y="1295400"/>
            <a:ext cx="10591800" cy="4648200"/>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 </a:t>
            </a:r>
          </a:p>
          <a:p>
            <a:pPr>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5D7B20-F027-F87C-0B60-A2CA1F9C2AA7}"/>
              </a:ext>
            </a:extLst>
          </p:cNvPr>
          <p:cNvSpPr txBox="1"/>
          <p:nvPr/>
        </p:nvSpPr>
        <p:spPr>
          <a:xfrm>
            <a:off x="1104900" y="1852127"/>
            <a:ext cx="9982200" cy="3416320"/>
          </a:xfrm>
          <a:prstGeom prst="rect">
            <a:avLst/>
          </a:prstGeom>
          <a:noFill/>
        </p:spPr>
        <p:txBody>
          <a:bodyPr wrap="square">
            <a:spAutoFit/>
          </a:bodyPr>
          <a:lstStyle/>
          <a:p>
            <a:endParaRPr lang="en-US" sz="2400" dirty="0">
              <a:latin typeface="Ebrima" panose="02000000000000000000" pitchFamily="2" charset="0"/>
              <a:ea typeface="Ebrima" panose="02000000000000000000" pitchFamily="2" charset="0"/>
              <a:cs typeface="Ebrima" panose="02000000000000000000" pitchFamily="2" charset="0"/>
            </a:endParaRPr>
          </a:p>
          <a:p>
            <a:pPr algn="just"/>
            <a:r>
              <a:rPr lang="en-US" sz="2400" dirty="0">
                <a:latin typeface="Ebrima" panose="02000000000000000000" pitchFamily="2" charset="0"/>
                <a:ea typeface="Ebrima" panose="02000000000000000000" pitchFamily="2" charset="0"/>
                <a:cs typeface="Ebrima" panose="02000000000000000000" pitchFamily="2" charset="0"/>
              </a:rPr>
              <a:t>Event planning often becomes very hard because customers must coordinate with multiple vendors for different services. This problem leads to inefficiency, poor communication, wasted time and waste of money.  </a:t>
            </a:r>
          </a:p>
          <a:p>
            <a:pPr algn="just"/>
            <a:r>
              <a:rPr lang="en-US" sz="2400" dirty="0">
                <a:latin typeface="Ebrima" panose="02000000000000000000" pitchFamily="2" charset="0"/>
                <a:ea typeface="Ebrima" panose="02000000000000000000" pitchFamily="2" charset="0"/>
                <a:cs typeface="Ebrima" panose="02000000000000000000" pitchFamily="2" charset="0"/>
              </a:rPr>
              <a:t>                                    Currently, there is no single platform that allows customers to book multiple event-related services in a single website manner. For anyone who are new to book the events or organize the events it is very difficult and stressful for them to do the task.</a:t>
            </a:r>
            <a:endParaRPr lang="en-IN" sz="2400" dirty="0">
              <a:latin typeface="Ebrima" panose="02000000000000000000" pitchFamily="2" charset="0"/>
              <a:ea typeface="Ebrima" panose="02000000000000000000" pitchFamily="2" charset="0"/>
              <a:cs typeface="Ebrima" panose="02000000000000000000" pitchFamily="2" charset="0"/>
            </a:endParaRPr>
          </a:p>
        </p:txBody>
      </p:sp>
    </p:spTree>
    <p:extLst>
      <p:ext uri="{BB962C8B-B14F-4D97-AF65-F5344CB8AC3E}">
        <p14:creationId xmlns:p14="http://schemas.microsoft.com/office/powerpoint/2010/main" val="3433947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B42B4-49D0-A659-3206-8F106E7BD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8FD84-C0DA-3298-5C6A-1BFBE5A8643D}"/>
              </a:ext>
            </a:extLst>
          </p:cNvPr>
          <p:cNvSpPr>
            <a:spLocks noGrp="1"/>
          </p:cNvSpPr>
          <p:nvPr>
            <p:ph type="title"/>
          </p:nvPr>
        </p:nvSpPr>
        <p:spPr>
          <a:xfrm>
            <a:off x="533400" y="334347"/>
            <a:ext cx="10591800" cy="762000"/>
          </a:xfrm>
        </p:spPr>
        <p:txBody>
          <a:bodyPr>
            <a:norm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56BF19B8-49C9-6C47-C659-01074DA2AE87}"/>
              </a:ext>
            </a:extLst>
          </p:cNvPr>
          <p:cNvSpPr>
            <a:spLocks noGrp="1"/>
          </p:cNvSpPr>
          <p:nvPr>
            <p:ph idx="1"/>
          </p:nvPr>
        </p:nvSpPr>
        <p:spPr>
          <a:xfrm>
            <a:off x="957580" y="1219200"/>
            <a:ext cx="10276840" cy="4648200"/>
          </a:xfrm>
        </p:spPr>
        <p:txBody>
          <a:bodyPr>
            <a:noAutofit/>
          </a:bodyPr>
          <a:lstStyle/>
          <a:p>
            <a:pPr algn="just">
              <a:lnSpc>
                <a:spcPct val="150000"/>
              </a:lnSpc>
            </a:pPr>
            <a:r>
              <a:rPr lang="en-US" sz="2400" dirty="0">
                <a:latin typeface="Times New Roman" panose="02020603050405020304" pitchFamily="18" charset="0"/>
                <a:cs typeface="Times New Roman" panose="02020603050405020304" pitchFamily="18" charset="0"/>
              </a:rPr>
              <a:t> </a:t>
            </a:r>
            <a:r>
              <a:rPr lang="en-US" sz="2400" dirty="0">
                <a:latin typeface="Ebrima" panose="02000000000000000000" pitchFamily="2" charset="0"/>
                <a:ea typeface="Ebrima" panose="02000000000000000000" pitchFamily="2" charset="0"/>
                <a:cs typeface="Ebrima" panose="02000000000000000000" pitchFamily="2" charset="0"/>
              </a:rPr>
              <a:t>Develop user friendly web application for booking various event services.</a:t>
            </a:r>
          </a:p>
          <a:p>
            <a:pPr algn="just"/>
            <a:r>
              <a:rPr lang="en-US" sz="2400" dirty="0">
                <a:latin typeface="Ebrima" panose="02000000000000000000" pitchFamily="2" charset="0"/>
                <a:ea typeface="Ebrima" panose="02000000000000000000" pitchFamily="2" charset="0"/>
                <a:cs typeface="Ebrima" panose="02000000000000000000" pitchFamily="2" charset="0"/>
              </a:rPr>
              <a:t>Create separate, easy-to-use booking forms for venue, decoration, catering, photography, and entertainment services.</a:t>
            </a:r>
          </a:p>
          <a:p>
            <a:pPr algn="just"/>
            <a:r>
              <a:rPr lang="en-US" sz="2400" dirty="0">
                <a:latin typeface="Ebrima" panose="02000000000000000000" pitchFamily="2" charset="0"/>
                <a:ea typeface="Ebrima" panose="02000000000000000000" pitchFamily="2" charset="0"/>
                <a:cs typeface="Ebrima" panose="02000000000000000000" pitchFamily="2" charset="0"/>
              </a:rPr>
              <a:t>Present service details and pricing clearly to support customer for making the decisions easily </a:t>
            </a:r>
          </a:p>
          <a:p>
            <a:pPr algn="just"/>
            <a:r>
              <a:rPr lang="en-US" sz="2400" dirty="0">
                <a:latin typeface="Ebrima" panose="02000000000000000000" pitchFamily="2" charset="0"/>
                <a:ea typeface="Ebrima" panose="02000000000000000000" pitchFamily="2" charset="0"/>
                <a:cs typeface="Ebrima" panose="02000000000000000000" pitchFamily="2" charset="0"/>
              </a:rPr>
              <a:t>Implement login functionality for customers, event vendors, and planners.</a:t>
            </a:r>
          </a:p>
          <a:p>
            <a:pPr algn="just"/>
            <a:r>
              <a:rPr lang="en-US" sz="2400" dirty="0">
                <a:latin typeface="Ebrima" panose="02000000000000000000" pitchFamily="2" charset="0"/>
                <a:ea typeface="Ebrima" panose="02000000000000000000" pitchFamily="2" charset="0"/>
                <a:cs typeface="Ebrima" panose="02000000000000000000" pitchFamily="2" charset="0"/>
              </a:rPr>
              <a:t>Allow users to submit feedback on services for improved quality and transparency of the services so that we can improve our services.</a:t>
            </a:r>
          </a:p>
          <a:p>
            <a:pPr algn="just"/>
            <a:r>
              <a:rPr lang="en-US" sz="2400" dirty="0">
                <a:latin typeface="Ebrima" panose="02000000000000000000" pitchFamily="2" charset="0"/>
                <a:ea typeface="Ebrima" panose="02000000000000000000" pitchFamily="2" charset="0"/>
                <a:cs typeface="Ebrima" panose="02000000000000000000" pitchFamily="2" charset="0"/>
              </a:rPr>
              <a:t>Centralize the booking process to reduce confusion and improve convenience.</a:t>
            </a: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746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84F4E-8DE8-73C0-04A1-B2EC76D82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F5E28-EC72-A1B1-27BB-22F8C8DE847A}"/>
              </a:ext>
            </a:extLst>
          </p:cNvPr>
          <p:cNvSpPr>
            <a:spLocks noGrp="1"/>
          </p:cNvSpPr>
          <p:nvPr>
            <p:ph type="title"/>
          </p:nvPr>
        </p:nvSpPr>
        <p:spPr>
          <a:xfrm>
            <a:off x="457200" y="609600"/>
            <a:ext cx="10591800" cy="762000"/>
          </a:xfrm>
        </p:spPr>
        <p:txBody>
          <a:bodyPr>
            <a:norm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EDF150A9-C7F8-4ABE-D6C3-B9C5B02E2CD6}"/>
              </a:ext>
            </a:extLst>
          </p:cNvPr>
          <p:cNvSpPr>
            <a:spLocks noGrp="1"/>
          </p:cNvSpPr>
          <p:nvPr>
            <p:ph idx="1"/>
          </p:nvPr>
        </p:nvSpPr>
        <p:spPr>
          <a:xfrm>
            <a:off x="762000" y="1219200"/>
            <a:ext cx="10591800" cy="4648200"/>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 </a:t>
            </a:r>
          </a:p>
          <a:p>
            <a:pPr>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197188E-2276-08EB-74C2-9AE86F443DDD}"/>
              </a:ext>
            </a:extLst>
          </p:cNvPr>
          <p:cNvSpPr txBox="1"/>
          <p:nvPr/>
        </p:nvSpPr>
        <p:spPr>
          <a:xfrm>
            <a:off x="990600" y="1726674"/>
            <a:ext cx="10058400" cy="4647426"/>
          </a:xfrm>
          <a:prstGeom prst="rect">
            <a:avLst/>
          </a:prstGeom>
          <a:noFill/>
        </p:spPr>
        <p:txBody>
          <a:bodyPr wrap="square">
            <a:spAutoFit/>
          </a:bodyPr>
          <a:lstStyle/>
          <a:p>
            <a:pPr algn="just"/>
            <a:r>
              <a:rPr lang="en-US" sz="2400" dirty="0">
                <a:latin typeface="Ebrima" panose="02000000000000000000" pitchFamily="2" charset="0"/>
                <a:ea typeface="Ebrima" panose="02000000000000000000" pitchFamily="2" charset="0"/>
                <a:cs typeface="Ebrima" panose="02000000000000000000" pitchFamily="2" charset="0"/>
              </a:rPr>
              <a:t>The motivation behind the </a:t>
            </a:r>
            <a:r>
              <a:rPr lang="en-IN" sz="2400" b="1" dirty="0">
                <a:latin typeface="Calibri" panose="020F0502020204030204" pitchFamily="34" charset="0"/>
                <a:ea typeface="Calibri" panose="020F0502020204030204" pitchFamily="34" charset="0"/>
                <a:cs typeface="Calibri" panose="020F0502020204030204" pitchFamily="34" charset="0"/>
              </a:rPr>
              <a:t>Timeless moments</a:t>
            </a:r>
            <a:r>
              <a:rPr lang="en-US" sz="2400" dirty="0">
                <a:latin typeface="Ebrima" panose="02000000000000000000" pitchFamily="2" charset="0"/>
                <a:ea typeface="Ebrima" panose="02000000000000000000" pitchFamily="2" charset="0"/>
                <a:cs typeface="Ebrima" panose="02000000000000000000" pitchFamily="2" charset="0"/>
              </a:rPr>
              <a:t> is to simplify the event planning process by providing a centralized platform where customers can easily find and book multiple services such as venue, decoration, catering, photography, and entertainment. </a:t>
            </a:r>
          </a:p>
          <a:p>
            <a:pPr algn="just"/>
            <a:endParaRPr lang="en-US" sz="2400" dirty="0">
              <a:latin typeface="Ebrima" panose="02000000000000000000" pitchFamily="2" charset="0"/>
              <a:ea typeface="Ebrima" panose="02000000000000000000" pitchFamily="2" charset="0"/>
              <a:cs typeface="Ebrima" panose="02000000000000000000" pitchFamily="2" charset="0"/>
            </a:endParaRPr>
          </a:p>
          <a:p>
            <a:pPr marL="342900" indent="-342900">
              <a:buFont typeface="Arial" panose="020B0604020202020204" pitchFamily="34" charset="0"/>
              <a:buChar char="•"/>
            </a:pPr>
            <a:r>
              <a:rPr lang="en-US" sz="2400" dirty="0">
                <a:latin typeface="Ebrima" panose="02000000000000000000" pitchFamily="2" charset="0"/>
                <a:ea typeface="Ebrima" panose="02000000000000000000" pitchFamily="2" charset="0"/>
                <a:cs typeface="Ebrima" panose="02000000000000000000" pitchFamily="2" charset="0"/>
              </a:rPr>
              <a:t>Reduce effort of contacting multiple vendors individually.</a:t>
            </a:r>
          </a:p>
          <a:p>
            <a:pPr marL="342900" indent="-342900">
              <a:buFont typeface="Arial" panose="020B0604020202020204" pitchFamily="34" charset="0"/>
              <a:buChar char="•"/>
            </a:pPr>
            <a:r>
              <a:rPr lang="en-US" sz="2400" dirty="0">
                <a:latin typeface="Ebrima" panose="02000000000000000000" pitchFamily="2" charset="0"/>
                <a:ea typeface="Ebrima" panose="02000000000000000000" pitchFamily="2" charset="0"/>
                <a:cs typeface="Ebrima" panose="02000000000000000000" pitchFamily="2" charset="0"/>
              </a:rPr>
              <a:t>Provide clear service details and pricing in one place.</a:t>
            </a:r>
          </a:p>
          <a:p>
            <a:pPr marL="342900" indent="-342900">
              <a:buFont typeface="Arial" panose="020B0604020202020204" pitchFamily="34" charset="0"/>
              <a:buChar char="•"/>
            </a:pPr>
            <a:r>
              <a:rPr lang="en-US" sz="2400" dirty="0">
                <a:latin typeface="Ebrima" panose="02000000000000000000" pitchFamily="2" charset="0"/>
                <a:ea typeface="Ebrima" panose="02000000000000000000" pitchFamily="2" charset="0"/>
                <a:cs typeface="Ebrima" panose="02000000000000000000" pitchFamily="2" charset="0"/>
              </a:rPr>
              <a:t>Improve coordination between customers and vendors.</a:t>
            </a:r>
          </a:p>
          <a:p>
            <a:pPr marL="342900" indent="-342900">
              <a:buFont typeface="Arial" panose="020B0604020202020204" pitchFamily="34" charset="0"/>
              <a:buChar char="•"/>
            </a:pPr>
            <a:r>
              <a:rPr lang="en-US" sz="2400" dirty="0">
                <a:latin typeface="Ebrima" panose="02000000000000000000" pitchFamily="2" charset="0"/>
                <a:ea typeface="Ebrima" panose="02000000000000000000" pitchFamily="2" charset="0"/>
                <a:cs typeface="Ebrima" panose="02000000000000000000" pitchFamily="2" charset="0"/>
              </a:rPr>
              <a:t>Save time and simplify event planning process.</a:t>
            </a:r>
          </a:p>
          <a:p>
            <a:pPr marL="342900" indent="-342900">
              <a:buFont typeface="Arial" panose="020B0604020202020204" pitchFamily="34" charset="0"/>
              <a:buChar char="•"/>
            </a:pPr>
            <a:r>
              <a:rPr lang="en-US" sz="2400" dirty="0">
                <a:latin typeface="Ebrima" panose="02000000000000000000" pitchFamily="2" charset="0"/>
                <a:ea typeface="Ebrima" panose="02000000000000000000" pitchFamily="2" charset="0"/>
                <a:cs typeface="Ebrima" panose="02000000000000000000" pitchFamily="2" charset="0"/>
              </a:rPr>
              <a:t>Promote digital management of event services.</a:t>
            </a:r>
          </a:p>
          <a:p>
            <a:pPr marL="342900" indent="-342900">
              <a:buFont typeface="Arial" panose="020B0604020202020204" pitchFamily="34" charset="0"/>
              <a:buChar char="•"/>
            </a:pPr>
            <a:r>
              <a:rPr lang="en-US" sz="2400" dirty="0">
                <a:latin typeface="Ebrima" panose="02000000000000000000" pitchFamily="2" charset="0"/>
                <a:ea typeface="Ebrima" panose="02000000000000000000" pitchFamily="2" charset="0"/>
                <a:cs typeface="Ebrima" panose="02000000000000000000" pitchFamily="2" charset="0"/>
              </a:rPr>
              <a:t>Collect customer and vendor feedback for service improvement.</a:t>
            </a:r>
          </a:p>
          <a:p>
            <a:pPr algn="just"/>
            <a:endParaRPr lang="en-IN" sz="2400" dirty="0">
              <a:latin typeface="Ebrima" panose="02000000000000000000" pitchFamily="2" charset="0"/>
              <a:ea typeface="Ebrima" panose="02000000000000000000" pitchFamily="2" charset="0"/>
              <a:cs typeface="Ebrima" panose="02000000000000000000" pitchFamily="2" charset="0"/>
            </a:endParaRPr>
          </a:p>
        </p:txBody>
      </p:sp>
    </p:spTree>
    <p:extLst>
      <p:ext uri="{BB962C8B-B14F-4D97-AF65-F5344CB8AC3E}">
        <p14:creationId xmlns:p14="http://schemas.microsoft.com/office/powerpoint/2010/main" val="3489886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514600"/>
            <a:ext cx="8229600" cy="1143000"/>
          </a:xfrm>
        </p:spPr>
        <p:txBody>
          <a:bodyPr>
            <a:normAutofit/>
          </a:bodyPr>
          <a:lstStyle/>
          <a:p>
            <a:pPr algn="ctr">
              <a:spcBef>
                <a:spcPct val="0"/>
              </a:spcBef>
              <a:buNone/>
            </a:pPr>
            <a:r>
              <a:rPr lang="en-IN" b="1" dirty="0">
                <a:solidFill>
                  <a:srgbClr val="FF0000"/>
                </a:solidFill>
                <a:latin typeface="Times New Roman" panose="02020603050405020304" pitchFamily="18" charset="0"/>
                <a:cs typeface="Times New Roman" panose="02020603050405020304" pitchFamily="18" charset="0"/>
              </a:rPr>
              <a:t>Thank You</a:t>
            </a:r>
            <a:endParaRPr 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63771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254</TotalTime>
  <Words>554</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STLiti</vt:lpstr>
      <vt:lpstr>Arial</vt:lpstr>
      <vt:lpstr>Calibri</vt:lpstr>
      <vt:lpstr>Calibri Light</vt:lpstr>
      <vt:lpstr>Ebrima</vt:lpstr>
      <vt:lpstr>Times New Roman</vt:lpstr>
      <vt:lpstr>Wingdings</vt:lpstr>
      <vt:lpstr>Office Theme</vt:lpstr>
      <vt:lpstr>A Mini Project abstract presentation  on         Timeless moments- where stories begin</vt:lpstr>
      <vt:lpstr>Contents</vt:lpstr>
      <vt:lpstr>Abstract</vt:lpstr>
      <vt:lpstr>Introduction</vt:lpstr>
      <vt:lpstr>Statement of the problem</vt:lpstr>
      <vt:lpstr>Objectives</vt:lpstr>
      <vt:lpstr>Motivation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APPLE</dc:creator>
  <cp:lastModifiedBy>G DIVYA YOSHITHA</cp:lastModifiedBy>
  <cp:revision>223</cp:revision>
  <dcterms:created xsi:type="dcterms:W3CDTF">2018-02-12T04:29:00Z</dcterms:created>
  <dcterms:modified xsi:type="dcterms:W3CDTF">2025-09-09T16:34:42Z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B4E3AF8FB4D24E6FB9737CB5F85AE273_13</vt:lpwstr>
  </property>
  <property fmtid="{D5CDD505-2E9C-101B-9397-08002B2CF9AE}" pid="3" name="KSOProductBuildVer">
    <vt:lpwstr>2057-12.2.0.17119</vt:lpwstr>
  </property>
</Properties>
</file>